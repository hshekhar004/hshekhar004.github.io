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one sentence — 'This thesis answers a question the 2025 Nexperia crisis forced onto every automotive semiconductor boardroom: when you cannot supply everyone, who gets the chips — and on what defensible basis?' Then state the answer up front: a two-stage, horizon-weighted framework that allocates by vehicle programme, not by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Signpost the red thread: problem → diagnosis → framework → evidence → decision. Tell the audience the deck is structured as a decision document, not a chapter summary — each slide answers 'so what' for a Nexperia executive.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separating the two tiers out loud: 'Three forces make scarcity permanent. Two forces make scarcity a decision problem — lock-in removes the customer's exit, eligibility removes the supplier's entry. That distinction is why a framework is necessary at all.' Defend case selection actively: Nexperia is chosen because all five forces are simultaneously observable in one supplier from public data, not because a disruption occurred — remove 2025 and four of the five forces remain. Close on the bridge line: the unit of decision, not the identity of the customer, is the open question. Do not revisit the crisis narrative after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intellectual pivot of the thesis. Emphasise: the finding is not 'old rules are bad' but WHY they fail — they all evaluate at the wrong level. The same OEM holds a dying ICE programme and a rising EV programme; averaging them destroys the information the decision needs. This framing was explicitly endorsed by the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architecture left to right. Defend the weights if challenged: C1 highest in crisis because non-fulfilment transmitted instantly downstream (Honda, Bosch); C4 constant because ownership risk is structural, not cyclical (García-Herrero); C6 lowest because crisis demand signals are bullwhip-inflated — it is a validation check, not a differentiator.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chart: A proves the framework protects what must never fail; the B–C crossover is the core reallocation mechanism — same OEM, opposite trajectories; D is the stress test — no commercial score overrides G1, and its 4.8 quantifies the strategic value locked behind the Dongguan route. Robustness: framework held under stabilisation, bifurcation and renewed-control scenarios.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 to slide 3: each decision neutralises one failure mode from the diagnosis. If asked about limitations: weights rest on managerial judgement structured by AHP, bands are design choices not disclosed Nexperia practice, and the framework was built on public data — internal calibration is the natural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discussion actively — the evaluation rewards integrating the audience. The three challenge points pre-empt the most likely examiner questions and signal intellectual honesty about the framework's limitations.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E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MASTER'S THESIS DEFENSE  ·  TECHNISCHE HOCHSCHULE NÜRNBERG GEORG SIMON OHM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Prioritisation under Supply Constraints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121408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BE0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Decision Framework for Semiconductor Suppliers in the Global Automotive Industry — with Application to Nexperia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7863840" cy="777240"/>
          </a:xfrm>
          <a:prstGeom prst="roundRect">
            <a:avLst>
              <a:gd name="adj" fmla="val 7059"/>
            </a:avLst>
          </a:prstGeom>
          <a:solidFill>
            <a:srgbClr val="00425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12724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8803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BE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up front: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capacity is scarce and four rulebooks bind, the decisive question is not which customer to serve first — it is which vehicle programme earns the next unit of supply.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406908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BE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40080" y="42793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Himanshu Shekhar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651760" y="406908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BE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651760" y="42793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Dr. Kai-Uwe Wellner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663440" y="406908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BE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663440" y="42793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of Business Administration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675120" y="406908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BE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675120" y="42793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storyline: from structural allocation pressure to a defensible programme-level decision framework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257800" cy="658368"/>
          </a:xfrm>
          <a:prstGeom prst="roundRect">
            <a:avLst>
              <a:gd name="adj" fmla="val 6944"/>
            </a:avLst>
          </a:prstGeom>
          <a:solidFill>
            <a:srgbClr val="F1F3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21792" y="96012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E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98448" y="96012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starting point —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4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forces make scarcity permanent; two make it a decision — Nexperia is where all five are observable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709928"/>
            <a:ext cx="5257800" cy="658368"/>
          </a:xfrm>
          <a:prstGeom prst="roundRect">
            <a:avLst>
              <a:gd name="adj" fmla="val 6944"/>
            </a:avLst>
          </a:prstGeom>
          <a:solidFill>
            <a:srgbClr val="F1F3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0992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E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98448" y="170992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1 · Diagnosis —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4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Conventional logics tested and rejected — the account is proven the wrong unit of analysis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459736"/>
            <a:ext cx="5257800" cy="658368"/>
          </a:xfrm>
          <a:prstGeom prst="roundRect">
            <a:avLst>
              <a:gd name="adj" fmla="val 6944"/>
            </a:avLst>
          </a:prstGeom>
          <a:solidFill>
            <a:srgbClr val="F1F3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" y="2459736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E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98448" y="2459736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2 · Framework design —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4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two-stage, horizon-weighted architecture that separates eligibility from value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209544"/>
            <a:ext cx="5257800" cy="658368"/>
          </a:xfrm>
          <a:prstGeom prst="roundRect">
            <a:avLst>
              <a:gd name="adj" fmla="val 6944"/>
            </a:avLst>
          </a:prstGeom>
          <a:solidFill>
            <a:srgbClr val="F1F3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" y="320954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E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98448" y="320954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3 · Validation —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4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programme archetypes and three stress scenarios prove the reallocation mechanism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959352"/>
            <a:ext cx="5257800" cy="658368"/>
          </a:xfrm>
          <a:prstGeom prst="roundRect">
            <a:avLst>
              <a:gd name="adj" fmla="val 6944"/>
            </a:avLst>
          </a:prstGeom>
          <a:solidFill>
            <a:srgbClr val="F1F3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" y="395935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E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98448" y="395935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4 · Managerial translation —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4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Governance, KPIs and four leadership decisions that make the framework operational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0" y="960120"/>
            <a:ext cx="2743200" cy="3657600"/>
          </a:xfrm>
          <a:prstGeom prst="roundRect">
            <a:avLst>
              <a:gd name="adj" fmla="val 2000"/>
            </a:avLst>
          </a:prstGeom>
          <a:solidFill>
            <a:srgbClr val="000038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1188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BE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GOVERNING THOUGHT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72200" y="148132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precedes value.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72200" y="199339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precedes volume.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72200" y="26060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BE0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Programmes — not accounts — are where both are decided.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72200" y="3520440"/>
            <a:ext cx="2286000" cy="0"/>
          </a:xfrm>
          <a:prstGeom prst="line">
            <a:avLst/>
          </a:prstGeom>
          <a:noFill/>
          <a:ln w="12700">
            <a:solidFill>
              <a:srgbClr val="00425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36118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BE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slide that follows exists to defend this claim.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FB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STARTING POINT — STRUCTURAL BACKGROUND IN ONE SLIDE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semiconductor allocation is a structural management problem, not a crisis response: three forces make scarcity permanent, and two make it a decision no conventional rule can settle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4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— WHY SCARCITY PERSISTS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4434840" cy="502920"/>
          </a:xfrm>
          <a:prstGeom prst="roundRect">
            <a:avLst>
              <a:gd name="adj" fmla="val 7273"/>
            </a:avLst>
          </a:prstGeom>
          <a:solidFill>
            <a:srgbClr val="F1F3F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225296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1243584"/>
            <a:ext cx="3840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Semiconductor dependence is rising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powertrains, ADAS, SDV architectures and safety electronics push a modern vehicle past 3,000 chips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773936"/>
            <a:ext cx="4434840" cy="502920"/>
          </a:xfrm>
          <a:prstGeom prst="roundRect">
            <a:avLst>
              <a:gd name="adj" fmla="val 7273"/>
            </a:avLst>
          </a:prstGeom>
          <a:solidFill>
            <a:srgbClr val="F1F3FA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773936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1792224"/>
            <a:ext cx="3840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diverges inside the same account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EV, SiC and ADAS programmes climb while ICE declines — one OEM holds a dying and a decisive programme at once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322576"/>
            <a:ext cx="4434840" cy="502920"/>
          </a:xfrm>
          <a:prstGeom prst="roundRect">
            <a:avLst>
              <a:gd name="adj" fmla="val 7273"/>
            </a:avLst>
          </a:prstGeom>
          <a:solidFill>
            <a:srgbClr val="F1F3FA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322576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2340864"/>
            <a:ext cx="3840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expansion is slow and misdirected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Fabs are capital-intensive; AI and advanced nodes absorb investment, so mature-node automotive supply stays tight in a growing market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90779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4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— WHY SCARCITY BECOMES A DECISION PROBLEM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127248"/>
            <a:ext cx="2176272" cy="822960"/>
          </a:xfrm>
          <a:prstGeom prst="roundRect">
            <a:avLst>
              <a:gd name="adj" fmla="val 4444"/>
            </a:avLst>
          </a:prstGeom>
          <a:solidFill>
            <a:srgbClr val="004259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E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3346704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Lock-in removes the customer's exit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CFE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AEC-Q100/Q101 validation takes 12–24 months — a mis-allocated part halts production, it does not lose an order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15768" y="3127248"/>
            <a:ext cx="2176272" cy="822960"/>
          </a:xfrm>
          <a:prstGeom prst="roundRect">
            <a:avLst>
              <a:gd name="adj" fmla="val 4444"/>
            </a:avLst>
          </a:prstGeom>
          <a:solidFill>
            <a:srgbClr val="004259"/>
          </a:solidFill>
          <a:ln/>
        </p:spPr>
      </p:sp>
      <p:sp>
        <p:nvSpPr>
          <p:cNvPr id="19" name="Text 17"/>
          <p:cNvSpPr/>
          <p:nvPr/>
        </p:nvSpPr>
        <p:spPr>
          <a:xfrm>
            <a:off x="2825496" y="316382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E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825496" y="3346704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bars the supplier's entry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CFE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Ownership, routing and export control can bar a commercially attractive programme before its value is ever assessed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120640" y="10058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4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 BEHIND EACH FORCE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120640" y="1225296"/>
            <a:ext cx="1719072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BE0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1252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3,000+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00800" y="12710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FB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212080" y="15270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chips per modern vehicle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967728" y="1225296"/>
            <a:ext cx="1719072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BE0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59168" y="1252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247888" y="12710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FB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059168" y="15270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sales Level-2 ADAS by 2030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120640" y="1883664"/>
            <a:ext cx="1719072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BE0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19110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17→20M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400800" y="19293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FB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212080" y="21854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sales 2024→2025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967728" y="1883664"/>
            <a:ext cx="1719072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BE0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59168" y="19110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 p.a.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8247888" y="19293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FB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059168" y="21854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powertrain growth vs ICE decline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120640" y="2542032"/>
            <a:ext cx="1719072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BE0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0" y="25694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&gt;$200B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6400800" y="25877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FB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212080" y="28437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revenue lost, 2021 shortage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967728" y="2542032"/>
            <a:ext cx="1719072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BE0E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59168" y="25694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12–24 mo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8247888" y="25877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FB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059168" y="28437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requalify a replaced part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120640" y="32186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rulebooks bind one supplier simultaneously — Netherlands · EU · US · China  (F5)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" y="3566160"/>
            <a:ext cx="8229600" cy="713232"/>
          </a:xfrm>
          <a:prstGeom prst="roundRect">
            <a:avLst>
              <a:gd name="adj" fmla="val 6410"/>
            </a:avLst>
          </a:prstGeom>
          <a:solidFill>
            <a:srgbClr val="00003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21792" y="3611880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BE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SELECTION — WHY NEXPERIA, AND NOT MERELY BECAUSE OF 2025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1792" y="3785616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five forces collide in one supplier: </a:t>
            </a:r>
            <a:pPr indent="0" marL="0">
              <a:lnSpc>
                <a:spcPct val="102000"/>
              </a:lnSpc>
              <a:buNone/>
            </a:pPr>
            <a:r>
              <a:rPr lang="en-US" sz="780" dirty="0">
                <a:solidFill>
                  <a:srgbClr val="CFE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$2.06B FY24 revenue, &gt;50% automotive, mature-node discrete/logic/power portfolio, AEC-qualified safety parts, a Europe–China wafer-to-assembly route, Wingtech ownership, and simultaneous Dutch, EU, US and Chinese exposure. Few suppliers make the full allocation problem this observable from public data — and the 2025 disruption (11 days from export block to OEM shutdown warnings) proves only that this structural exposure turns operational overnight.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457200" y="4370832"/>
            <a:ext cx="8229600" cy="402336"/>
          </a:xfrm>
          <a:prstGeom prst="rect">
            <a:avLst/>
          </a:prstGeom>
          <a:solidFill>
            <a:srgbClr val="000038"/>
          </a:solidFill>
          <a:ln/>
        </p:spPr>
      </p:sp>
      <p:sp>
        <p:nvSpPr>
          <p:cNvPr id="51" name="Text 49"/>
          <p:cNvSpPr/>
          <p:nvPr/>
        </p:nvSpPr>
        <p:spPr>
          <a:xfrm>
            <a:off x="566928" y="437083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E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Therefore: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is no longer which customer to serve, but which programme is eligible, locked-in, strategically relevant and worth the next constrained unit of supply.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2024; IEA 2025/2026; McKinsey 2026; BCG &amp; SIA 2024; Kilian et al. 2026; AEC 2023; Nexperia B.V. 2025; S&amp;P Global Mobility 2025 — full references in thesis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FB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1 OF 4 — THE DIAGNOSIS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Volume, relationship and urgency logics all misallocate because they score at account level, where declining ICE and rising EV programmes cancel out — programme-level allocation is the only workable form of customer prioritisation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4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&amp; REJECTED: 3 CONVENTIONAL LOGICS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3931920" cy="914400"/>
          </a:xfrm>
          <a:prstGeom prst="roundRect">
            <a:avLst>
              <a:gd name="adj" fmla="val 5000"/>
            </a:avLst>
          </a:prstGeom>
          <a:solidFill>
            <a:srgbClr val="F1F3FA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" y="1581912"/>
            <a:ext cx="347472" cy="3474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DBE0E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1659636"/>
            <a:ext cx="192024" cy="1920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371600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Volume-based  —  fails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Rewards replaceable commodity lines; starves low-volume, irreplaceable safety parts (airbag MOSFETs)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304288"/>
            <a:ext cx="3931920" cy="914400"/>
          </a:xfrm>
          <a:prstGeom prst="roundRect">
            <a:avLst>
              <a:gd name="adj" fmla="val 5000"/>
            </a:avLst>
          </a:prstGeom>
          <a:solidFill>
            <a:srgbClr val="F1F3FA"/>
          </a:solidFill>
          <a:ln/>
        </p:spPr>
      </p:sp>
      <p:sp>
        <p:nvSpPr>
          <p:cNvPr id="10" name="Shape 7"/>
          <p:cNvSpPr/>
          <p:nvPr/>
        </p:nvSpPr>
        <p:spPr>
          <a:xfrm>
            <a:off x="603504" y="2587752"/>
            <a:ext cx="347472" cy="3474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DBE0E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" y="2665476"/>
            <a:ext cx="192024" cy="1920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2377440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Relationship-based  —  fails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Rewards bargaining power, not value — in 2025, large customers bought Hamburg wafers and contracted Dongguan directly; mid-sized customers were crowded out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3310128"/>
            <a:ext cx="3931920" cy="914400"/>
          </a:xfrm>
          <a:prstGeom prst="roundRect">
            <a:avLst>
              <a:gd name="adj" fmla="val 5000"/>
            </a:avLst>
          </a:prstGeom>
          <a:solidFill>
            <a:srgbClr val="F1F3FA"/>
          </a:solidFill>
          <a:ln/>
        </p:spPr>
      </p:sp>
      <p:sp>
        <p:nvSpPr>
          <p:cNvPr id="14" name="Shape 10"/>
          <p:cNvSpPr/>
          <p:nvPr/>
        </p:nvSpPr>
        <p:spPr>
          <a:xfrm>
            <a:off x="603504" y="3593592"/>
            <a:ext cx="347472" cy="3474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DBE0E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" y="3671316"/>
            <a:ext cx="192024" cy="1920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3383280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Urgency-based  —  fails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Rewards bullwhip-inflated signals — ACEA warned forecasts were distorted by panic ordering and reserve stocks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754880" y="98755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4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DIAGNOSIS: ONE ACCOUNT, TWO FUTURES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754880" y="1298448"/>
            <a:ext cx="3931920" cy="1783080"/>
          </a:xfrm>
          <a:prstGeom prst="roundRect">
            <a:avLst>
              <a:gd name="adj" fmla="val 2564"/>
            </a:avLst>
          </a:prstGeom>
          <a:solidFill>
            <a:srgbClr val="F1F3FA"/>
          </a:solidFill>
          <a:ln/>
        </p:spPr>
      </p:sp>
      <p:sp>
        <p:nvSpPr>
          <p:cNvPr id="19" name="Text 14"/>
          <p:cNvSpPr/>
          <p:nvPr/>
        </p:nvSpPr>
        <p:spPr>
          <a:xfrm>
            <a:off x="4800600" y="29260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7498080" y="29260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2035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 flipV="1">
            <a:off x="5074920" y="1600200"/>
            <a:ext cx="2743200" cy="914400"/>
          </a:xfrm>
          <a:prstGeom prst="line">
            <a:avLst/>
          </a:prstGeom>
          <a:noFill/>
          <a:ln w="44450">
            <a:solidFill>
              <a:srgbClr val="1BE1A6"/>
            </a:solidFill>
            <a:prstDash val="solid"/>
            <a:tailEnd type="triangle"/>
          </a:ln>
        </p:spPr>
      </p:sp>
      <p:sp>
        <p:nvSpPr>
          <p:cNvPr id="22" name="Text 17"/>
          <p:cNvSpPr/>
          <p:nvPr/>
        </p:nvSpPr>
        <p:spPr>
          <a:xfrm>
            <a:off x="6217920" y="138988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/ SiC programme  +13% p.a.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5074920" y="1965960"/>
            <a:ext cx="2743200" cy="822960"/>
          </a:xfrm>
          <a:prstGeom prst="line">
            <a:avLst/>
          </a:prstGeom>
          <a:noFill/>
          <a:ln w="44450">
            <a:solidFill>
              <a:srgbClr val="9AA7B0"/>
            </a:solidFill>
            <a:prstDash val="dash"/>
            <a:tailEnd type="triangle"/>
          </a:ln>
        </p:spPr>
      </p:sp>
      <p:sp>
        <p:nvSpPr>
          <p:cNvPr id="24" name="Text 19"/>
          <p:cNvSpPr/>
          <p:nvPr/>
        </p:nvSpPr>
        <p:spPr>
          <a:xfrm>
            <a:off x="6217920" y="274320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 programme  declining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4828032" y="208483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OEM ACCOUNT</a:t>
            </a:r>
            <a:endParaRPr lang="en-US" sz="750" dirty="0"/>
          </a:p>
        </p:txBody>
      </p:sp>
      <p:sp>
        <p:nvSpPr>
          <p:cNvPr id="26" name="Shape 21"/>
          <p:cNvSpPr/>
          <p:nvPr/>
        </p:nvSpPr>
        <p:spPr>
          <a:xfrm>
            <a:off x="4754880" y="3200400"/>
            <a:ext cx="3931920" cy="1033272"/>
          </a:xfrm>
          <a:prstGeom prst="roundRect">
            <a:avLst>
              <a:gd name="adj" fmla="val 4425"/>
            </a:avLst>
          </a:prstGeom>
          <a:solidFill>
            <a:srgbClr val="004259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4937760" y="3273552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BE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Account-level averaging cancels these trajectories out.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12–24-month qualification lock-in decided per programme, programme-level allocation is not a rival to customer prioritisation — it is its operational mechanism.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57200" y="4370832"/>
            <a:ext cx="8229600" cy="402336"/>
          </a:xfrm>
          <a:prstGeom prst="rect">
            <a:avLst/>
          </a:prstGeom>
          <a:solidFill>
            <a:srgbClr val="000038"/>
          </a:solidFill>
          <a:ln/>
        </p:spPr>
      </p:sp>
      <p:sp>
        <p:nvSpPr>
          <p:cNvPr id="29" name="Text 24"/>
          <p:cNvSpPr/>
          <p:nvPr/>
        </p:nvSpPr>
        <p:spPr>
          <a:xfrm>
            <a:off x="566928" y="437083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E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Therefore: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 must invert the sequence — screen eligibility before value, and score programmes rather than accounts. That is what this thesis builds.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Sterling 2025; ACEA 2025; Lee et al. 1997; Kilian et al. 2026; AEC 2021/2023 — full references in thesis</a:t>
            </a:r>
            <a:endParaRPr lang="en-US" sz="750" dirty="0"/>
          </a:p>
        </p:txBody>
      </p:sp>
      <p:sp>
        <p:nvSpPr>
          <p:cNvPr id="31" name="Text 26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FB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2 OF 4 — THE FRAMEWORK, DEVELOPED IN THIS THESIS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separates eligibility from value: a non-overridable regulatory gate (G1), then six weighted criteria whose protection weight falls 65% → 45% while strategic weight doubles to 30% as the objective shifts from crisis to growth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148840" cy="3154680"/>
          </a:xfrm>
          <a:prstGeom prst="roundRect">
            <a:avLst>
              <a:gd name="adj" fmla="val 2553"/>
            </a:avLst>
          </a:prstGeom>
          <a:solidFill>
            <a:srgbClr val="00003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16736" y="1207008"/>
            <a:ext cx="457200" cy="457200"/>
          </a:xfrm>
          <a:prstGeom prst="ellipse">
            <a:avLst/>
          </a:prstGeom>
          <a:solidFill>
            <a:srgbClr val="00425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1892" y="1321308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1755648"/>
            <a:ext cx="1929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BE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— GATE G1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3504" y="1993392"/>
            <a:ext cx="1856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&amp; export-control eligibility — binary pass / fail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13232" y="2487168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DBE0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DBE0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End-user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DBE0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&amp; manufacturing site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DBE0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structure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DBE0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compliance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13232" y="3675888"/>
            <a:ext cx="1636776" cy="0"/>
          </a:xfrm>
          <a:prstGeom prst="line">
            <a:avLst/>
          </a:prstGeom>
          <a:noFill/>
          <a:ln w="9525">
            <a:solidFill>
              <a:srgbClr val="0042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" y="3749040"/>
            <a:ext cx="1856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i="1" dirty="0">
                <a:solidFill>
                  <a:srgbClr val="1BE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be overridden — under any circumstances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651760" y="2606040"/>
            <a:ext cx="365760" cy="914"/>
          </a:xfrm>
          <a:prstGeom prst="line">
            <a:avLst/>
          </a:prstGeom>
          <a:noFill/>
          <a:ln w="31750">
            <a:solidFill>
              <a:srgbClr val="004259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3108960" y="1024128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4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— SIX CRITERIA, HORIZON-SHIFTED WEIGHTS (%)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108960" y="12984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440680" y="1298448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 0–3m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464808" y="1298448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3–12m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488936" y="1298448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12m+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108960" y="159105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4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 </a:t>
            </a:r>
            <a:pPr indent="0" marL="0">
              <a:buNone/>
            </a:pPr>
            <a:r>
              <a:rPr lang="en-US" sz="950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Contractual severity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440680" y="1591056"/>
            <a:ext cx="969264" cy="310896"/>
          </a:xfrm>
          <a:prstGeom prst="roundRect">
            <a:avLst>
              <a:gd name="adj" fmla="val 8824"/>
            </a:avLst>
          </a:prstGeom>
          <a:solidFill>
            <a:srgbClr val="004259"/>
          </a:solidFill>
          <a:ln/>
        </p:spPr>
      </p:sp>
      <p:sp>
        <p:nvSpPr>
          <p:cNvPr id="20" name="Text 17"/>
          <p:cNvSpPr/>
          <p:nvPr/>
        </p:nvSpPr>
        <p:spPr>
          <a:xfrm>
            <a:off x="5440680" y="1591056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464808" y="1591056"/>
            <a:ext cx="969264" cy="310896"/>
          </a:xfrm>
          <a:prstGeom prst="roundRect">
            <a:avLst>
              <a:gd name="adj" fmla="val 8824"/>
            </a:avLst>
          </a:prstGeom>
          <a:solidFill>
            <a:srgbClr val="004259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591056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488936" y="1591056"/>
            <a:ext cx="969264" cy="310896"/>
          </a:xfrm>
          <a:prstGeom prst="roundRect">
            <a:avLst>
              <a:gd name="adj" fmla="val 8824"/>
            </a:avLst>
          </a:prstGeom>
          <a:solidFill>
            <a:srgbClr val="3E7A8C"/>
          </a:solidFill>
          <a:ln/>
        </p:spPr>
      </p:sp>
      <p:sp>
        <p:nvSpPr>
          <p:cNvPr id="24" name="Text 21"/>
          <p:cNvSpPr/>
          <p:nvPr/>
        </p:nvSpPr>
        <p:spPr>
          <a:xfrm>
            <a:off x="7488936" y="1591056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108960" y="19431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4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 </a:t>
            </a:r>
            <a:pPr indent="0" marL="0">
              <a:buNone/>
            </a:pPr>
            <a:r>
              <a:rPr lang="en-US" sz="950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Qualification lock-in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440680" y="1943100"/>
            <a:ext cx="969264" cy="310896"/>
          </a:xfrm>
          <a:prstGeom prst="roundRect">
            <a:avLst>
              <a:gd name="adj" fmla="val 8824"/>
            </a:avLst>
          </a:prstGeom>
          <a:solidFill>
            <a:srgbClr val="004259"/>
          </a:solidFill>
          <a:ln/>
        </p:spPr>
      </p:sp>
      <p:sp>
        <p:nvSpPr>
          <p:cNvPr id="27" name="Text 24"/>
          <p:cNvSpPr/>
          <p:nvPr/>
        </p:nvSpPr>
        <p:spPr>
          <a:xfrm>
            <a:off x="5440680" y="1943100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464808" y="1943100"/>
            <a:ext cx="969264" cy="310896"/>
          </a:xfrm>
          <a:prstGeom prst="roundRect">
            <a:avLst>
              <a:gd name="adj" fmla="val 8824"/>
            </a:avLst>
          </a:prstGeom>
          <a:solidFill>
            <a:srgbClr val="3E7A8C"/>
          </a:solidFill>
          <a:ln/>
        </p:spPr>
      </p:sp>
      <p:sp>
        <p:nvSpPr>
          <p:cNvPr id="29" name="Text 26"/>
          <p:cNvSpPr/>
          <p:nvPr/>
        </p:nvSpPr>
        <p:spPr>
          <a:xfrm>
            <a:off x="6464808" y="1943100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488936" y="1943100"/>
            <a:ext cx="969264" cy="310896"/>
          </a:xfrm>
          <a:prstGeom prst="roundRect">
            <a:avLst>
              <a:gd name="adj" fmla="val 8824"/>
            </a:avLst>
          </a:prstGeom>
          <a:solidFill>
            <a:srgbClr val="BFE9DC"/>
          </a:solidFill>
          <a:ln/>
        </p:spPr>
      </p:sp>
      <p:sp>
        <p:nvSpPr>
          <p:cNvPr id="31" name="Text 28"/>
          <p:cNvSpPr/>
          <p:nvPr/>
        </p:nvSpPr>
        <p:spPr>
          <a:xfrm>
            <a:off x="7488936" y="1943100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3108960" y="229514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4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  </a:t>
            </a:r>
            <a:pPr indent="0" marL="0">
              <a:buNone/>
            </a:pPr>
            <a:r>
              <a:rPr lang="en-US" sz="950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importance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440680" y="2295144"/>
            <a:ext cx="969264" cy="310896"/>
          </a:xfrm>
          <a:prstGeom prst="roundRect">
            <a:avLst>
              <a:gd name="adj" fmla="val 8824"/>
            </a:avLst>
          </a:prstGeom>
          <a:solidFill>
            <a:srgbClr val="BFE9DC"/>
          </a:solidFill>
          <a:ln/>
        </p:spPr>
      </p:sp>
      <p:sp>
        <p:nvSpPr>
          <p:cNvPr id="34" name="Text 31"/>
          <p:cNvSpPr/>
          <p:nvPr/>
        </p:nvSpPr>
        <p:spPr>
          <a:xfrm>
            <a:off x="5440680" y="2295144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464808" y="2295144"/>
            <a:ext cx="969264" cy="310896"/>
          </a:xfrm>
          <a:prstGeom prst="roundRect">
            <a:avLst>
              <a:gd name="adj" fmla="val 8824"/>
            </a:avLst>
          </a:prstGeom>
          <a:solidFill>
            <a:srgbClr val="3E7A8C"/>
          </a:solidFill>
          <a:ln/>
        </p:spPr>
      </p:sp>
      <p:sp>
        <p:nvSpPr>
          <p:cNvPr id="36" name="Text 33"/>
          <p:cNvSpPr/>
          <p:nvPr/>
        </p:nvSpPr>
        <p:spPr>
          <a:xfrm>
            <a:off x="6464808" y="2295144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488936" y="2295144"/>
            <a:ext cx="969264" cy="310896"/>
          </a:xfrm>
          <a:prstGeom prst="roundRect">
            <a:avLst>
              <a:gd name="adj" fmla="val 8824"/>
            </a:avLst>
          </a:prstGeom>
          <a:solidFill>
            <a:srgbClr val="004259"/>
          </a:solidFill>
          <a:ln/>
        </p:spPr>
      </p:sp>
      <p:sp>
        <p:nvSpPr>
          <p:cNvPr id="38" name="Text 35"/>
          <p:cNvSpPr/>
          <p:nvPr/>
        </p:nvSpPr>
        <p:spPr>
          <a:xfrm>
            <a:off x="7488936" y="2295144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3108960" y="264718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4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  </a:t>
            </a:r>
            <a:pPr indent="0" marL="0">
              <a:buNone/>
            </a:pPr>
            <a:r>
              <a:rPr lang="en-US" sz="950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Geopolitical &amp; operational risk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5440680" y="2647188"/>
            <a:ext cx="969264" cy="310896"/>
          </a:xfrm>
          <a:prstGeom prst="roundRect">
            <a:avLst>
              <a:gd name="adj" fmla="val 8824"/>
            </a:avLst>
          </a:prstGeom>
          <a:solidFill>
            <a:srgbClr val="F1F3FA"/>
          </a:solidFill>
          <a:ln/>
        </p:spPr>
      </p:sp>
      <p:sp>
        <p:nvSpPr>
          <p:cNvPr id="41" name="Text 38"/>
          <p:cNvSpPr/>
          <p:nvPr/>
        </p:nvSpPr>
        <p:spPr>
          <a:xfrm>
            <a:off x="5440680" y="2647188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464808" y="2647188"/>
            <a:ext cx="969264" cy="310896"/>
          </a:xfrm>
          <a:prstGeom prst="roundRect">
            <a:avLst>
              <a:gd name="adj" fmla="val 8824"/>
            </a:avLst>
          </a:prstGeom>
          <a:solidFill>
            <a:srgbClr val="F1F3FA"/>
          </a:solidFill>
          <a:ln/>
        </p:spPr>
      </p:sp>
      <p:sp>
        <p:nvSpPr>
          <p:cNvPr id="43" name="Text 40"/>
          <p:cNvSpPr/>
          <p:nvPr/>
        </p:nvSpPr>
        <p:spPr>
          <a:xfrm>
            <a:off x="6464808" y="2647188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7488936" y="2647188"/>
            <a:ext cx="969264" cy="310896"/>
          </a:xfrm>
          <a:prstGeom prst="roundRect">
            <a:avLst>
              <a:gd name="adj" fmla="val 8824"/>
            </a:avLst>
          </a:prstGeom>
          <a:solidFill>
            <a:srgbClr val="F1F3FA"/>
          </a:solidFill>
          <a:ln/>
        </p:spPr>
      </p:sp>
      <p:sp>
        <p:nvSpPr>
          <p:cNvPr id="45" name="Text 42"/>
          <p:cNvSpPr/>
          <p:nvPr/>
        </p:nvSpPr>
        <p:spPr>
          <a:xfrm>
            <a:off x="7488936" y="2647188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3108960" y="299923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4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C5  </a:t>
            </a:r>
            <a:pPr indent="0" marL="0">
              <a:buNone/>
            </a:pPr>
            <a:r>
              <a:rPr lang="en-US" sz="950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contribution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440680" y="2999232"/>
            <a:ext cx="969264" cy="310896"/>
          </a:xfrm>
          <a:prstGeom prst="roundRect">
            <a:avLst>
              <a:gd name="adj" fmla="val 8824"/>
            </a:avLst>
          </a:prstGeom>
          <a:solidFill>
            <a:srgbClr val="F1F3FA"/>
          </a:solidFill>
          <a:ln/>
        </p:spPr>
      </p:sp>
      <p:sp>
        <p:nvSpPr>
          <p:cNvPr id="48" name="Text 45"/>
          <p:cNvSpPr/>
          <p:nvPr/>
        </p:nvSpPr>
        <p:spPr>
          <a:xfrm>
            <a:off x="5440680" y="2999232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6464808" y="2999232"/>
            <a:ext cx="969264" cy="310896"/>
          </a:xfrm>
          <a:prstGeom prst="roundRect">
            <a:avLst>
              <a:gd name="adj" fmla="val 8824"/>
            </a:avLst>
          </a:prstGeom>
          <a:solidFill>
            <a:srgbClr val="F1F3FA"/>
          </a:solidFill>
          <a:ln/>
        </p:spPr>
      </p:sp>
      <p:sp>
        <p:nvSpPr>
          <p:cNvPr id="50" name="Text 47"/>
          <p:cNvSpPr/>
          <p:nvPr/>
        </p:nvSpPr>
        <p:spPr>
          <a:xfrm>
            <a:off x="6464808" y="2999232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7488936" y="2999232"/>
            <a:ext cx="969264" cy="310896"/>
          </a:xfrm>
          <a:prstGeom prst="roundRect">
            <a:avLst>
              <a:gd name="adj" fmla="val 8824"/>
            </a:avLst>
          </a:prstGeom>
          <a:solidFill>
            <a:srgbClr val="F1F3FA"/>
          </a:solidFill>
          <a:ln/>
        </p:spPr>
      </p:sp>
      <p:sp>
        <p:nvSpPr>
          <p:cNvPr id="52" name="Text 49"/>
          <p:cNvSpPr/>
          <p:nvPr/>
        </p:nvSpPr>
        <p:spPr>
          <a:xfrm>
            <a:off x="7488936" y="2999232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3108960" y="335127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4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C6  </a:t>
            </a:r>
            <a:pPr indent="0" marL="0">
              <a:buNone/>
            </a:pPr>
            <a:r>
              <a:rPr lang="en-US" sz="950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Demand-signal stability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5440680" y="3351276"/>
            <a:ext cx="969264" cy="310896"/>
          </a:xfrm>
          <a:prstGeom prst="roundRect">
            <a:avLst>
              <a:gd name="adj" fmla="val 8824"/>
            </a:avLst>
          </a:prstGeom>
          <a:solidFill>
            <a:srgbClr val="F1F3FA"/>
          </a:solidFill>
          <a:ln/>
        </p:spPr>
      </p:sp>
      <p:sp>
        <p:nvSpPr>
          <p:cNvPr id="55" name="Text 52"/>
          <p:cNvSpPr/>
          <p:nvPr/>
        </p:nvSpPr>
        <p:spPr>
          <a:xfrm>
            <a:off x="5440680" y="3351276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6464808" y="3351276"/>
            <a:ext cx="969264" cy="310896"/>
          </a:xfrm>
          <a:prstGeom prst="roundRect">
            <a:avLst>
              <a:gd name="adj" fmla="val 8824"/>
            </a:avLst>
          </a:prstGeom>
          <a:solidFill>
            <a:srgbClr val="F1F3FA"/>
          </a:solidFill>
          <a:ln/>
        </p:spPr>
      </p:sp>
      <p:sp>
        <p:nvSpPr>
          <p:cNvPr id="57" name="Text 54"/>
          <p:cNvSpPr/>
          <p:nvPr/>
        </p:nvSpPr>
        <p:spPr>
          <a:xfrm>
            <a:off x="6464808" y="3351276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7488936" y="3351276"/>
            <a:ext cx="969264" cy="310896"/>
          </a:xfrm>
          <a:prstGeom prst="roundRect">
            <a:avLst>
              <a:gd name="adj" fmla="val 8824"/>
            </a:avLst>
          </a:prstGeom>
          <a:solidFill>
            <a:srgbClr val="F1F3FA"/>
          </a:solidFill>
          <a:ln/>
        </p:spPr>
      </p:sp>
      <p:sp>
        <p:nvSpPr>
          <p:cNvPr id="59" name="Text 56"/>
          <p:cNvSpPr/>
          <p:nvPr/>
        </p:nvSpPr>
        <p:spPr>
          <a:xfrm>
            <a:off x="7488936" y="3351276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3108960" y="3657600"/>
            <a:ext cx="5577840" cy="566928"/>
          </a:xfrm>
          <a:prstGeom prst="roundRect">
            <a:avLst>
              <a:gd name="adj" fmla="val 6452"/>
            </a:avLst>
          </a:prstGeom>
          <a:solidFill>
            <a:srgbClr val="F1F3FA"/>
          </a:solidFill>
          <a:ln/>
        </p:spPr>
      </p:sp>
      <p:sp>
        <p:nvSpPr>
          <p:cNvPr id="61" name="Text 58"/>
          <p:cNvSpPr/>
          <p:nvPr/>
        </p:nvSpPr>
        <p:spPr>
          <a:xfrm>
            <a:off x="3246120" y="3694176"/>
            <a:ext cx="5349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design insight: </a:t>
            </a:r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004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weight (C1+C2) falls 65% → 45% while strategy (C3) doubles 15% → 30%.  Priority = Σ wᵢ·Cᵢ on a 1·3·5 scale → bands: </a:t>
            </a:r>
            <a:pPr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≥4.0 · Support ≥3.2 · Manage · Defer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457200" y="4370832"/>
            <a:ext cx="8229600" cy="402336"/>
          </a:xfrm>
          <a:prstGeom prst="rect">
            <a:avLst/>
          </a:prstGeom>
          <a:solidFill>
            <a:srgbClr val="000038"/>
          </a:solidFill>
          <a:ln/>
        </p:spPr>
      </p:sp>
      <p:sp>
        <p:nvSpPr>
          <p:cNvPr id="63" name="Text 60"/>
          <p:cNvSpPr/>
          <p:nvPr/>
        </p:nvSpPr>
        <p:spPr>
          <a:xfrm>
            <a:off x="566928" y="437083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E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 shows: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never earns eligibility, and the objective function itself moves with the horizon — the open question is whether this changes real allocation outcomes.</a:t>
            </a:r>
            <a:endParaRPr lang="en-US" sz="1050" dirty="0"/>
          </a:p>
        </p:txBody>
      </p:sp>
      <p:sp>
        <p:nvSpPr>
          <p:cNvPr id="64" name="Text 61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grounded in Chapters 2–3 evidence and AHP prioritisation logic (Saaty 1980); bands from 2025-crisis learnings</a:t>
            </a:r>
            <a:endParaRPr lang="en-US" sz="750" dirty="0"/>
          </a:p>
        </p:txBody>
      </p:sp>
      <p:sp>
        <p:nvSpPr>
          <p:cNvPr id="65" name="Text 62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FB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3 OF 4 — APPLICATION &amp; VALIDATION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four programme archetypes the framework performs as designed: safety stays in Protect, strategic SiC overtakes profitable ICE (3.1 vs 3.0), and top-scoring D (4.8) is stopped at the gate — the binding constraint is regulatory, not capacity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846320" cy="914400"/>
          </a:xfrm>
          <a:prstGeom prst="rect">
            <a:avLst/>
          </a:prstGeom>
          <a:solidFill>
            <a:srgbClr val="CFF5E8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13807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≥4.0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502920" y="2286000"/>
            <a:ext cx="4846320" cy="731520"/>
          </a:xfrm>
          <a:prstGeom prst="rect">
            <a:avLst/>
          </a:prstGeom>
          <a:solidFill>
            <a:srgbClr val="E2EEF2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22951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≥3.2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02920" y="3017520"/>
            <a:ext cx="4846320" cy="731520"/>
          </a:xfrm>
          <a:prstGeom prst="rect">
            <a:avLst/>
          </a:prstGeom>
          <a:solidFill>
            <a:srgbClr val="EFF1F4">
              <a:alpha val="4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21208" y="3026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02920" y="3749040"/>
            <a:ext cx="4846320" cy="365760"/>
          </a:xfrm>
          <a:prstGeom prst="rect">
            <a:avLst/>
          </a:prstGeom>
          <a:solidFill>
            <a:srgbClr val="F7F8FA">
              <a:alpha val="4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21208" y="37581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40080" y="41696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 0–3m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377440" y="41696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3–12m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14800" y="41696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12m+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188720" y="1554480"/>
            <a:ext cx="1737360" cy="914"/>
          </a:xfrm>
          <a:prstGeom prst="line">
            <a:avLst/>
          </a:prstGeom>
          <a:noFill/>
          <a:ln w="28575">
            <a:solidFill>
              <a:srgbClr val="00003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926080" y="1554480"/>
            <a:ext cx="1737360" cy="91440"/>
          </a:xfrm>
          <a:prstGeom prst="line">
            <a:avLst/>
          </a:prstGeom>
          <a:noFill/>
          <a:ln w="28575">
            <a:solidFill>
              <a:srgbClr val="00003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143000" y="1508760"/>
            <a:ext cx="91440" cy="91440"/>
          </a:xfrm>
          <a:prstGeom prst="ellipse">
            <a:avLst/>
          </a:prstGeom>
          <a:solidFill>
            <a:srgbClr val="000038"/>
          </a:solidFill>
          <a:ln/>
        </p:spPr>
      </p:sp>
      <p:sp>
        <p:nvSpPr>
          <p:cNvPr id="18" name="Shape 16"/>
          <p:cNvSpPr/>
          <p:nvPr/>
        </p:nvSpPr>
        <p:spPr>
          <a:xfrm>
            <a:off x="2880360" y="1508760"/>
            <a:ext cx="91440" cy="91440"/>
          </a:xfrm>
          <a:prstGeom prst="ellipse">
            <a:avLst/>
          </a:prstGeom>
          <a:solidFill>
            <a:srgbClr val="000038"/>
          </a:solidFill>
          <a:ln/>
        </p:spPr>
      </p:sp>
      <p:sp>
        <p:nvSpPr>
          <p:cNvPr id="19" name="Shape 17"/>
          <p:cNvSpPr/>
          <p:nvPr/>
        </p:nvSpPr>
        <p:spPr>
          <a:xfrm>
            <a:off x="4617720" y="1600200"/>
            <a:ext cx="91440" cy="91440"/>
          </a:xfrm>
          <a:prstGeom prst="ellipse">
            <a:avLst/>
          </a:prstGeom>
          <a:solidFill>
            <a:srgbClr val="000038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145389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0" y="154533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  D — blocked at G1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188720" y="1920240"/>
            <a:ext cx="1737360" cy="182880"/>
          </a:xfrm>
          <a:prstGeom prst="line">
            <a:avLst/>
          </a:prstGeom>
          <a:noFill/>
          <a:ln w="34925">
            <a:solidFill>
              <a:srgbClr val="00425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0" y="2103120"/>
            <a:ext cx="1737360" cy="182880"/>
          </a:xfrm>
          <a:prstGeom prst="line">
            <a:avLst/>
          </a:prstGeom>
          <a:noFill/>
          <a:ln w="34925">
            <a:solidFill>
              <a:srgbClr val="00425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3000" y="1874520"/>
            <a:ext cx="91440" cy="91440"/>
          </a:xfrm>
          <a:prstGeom prst="ellipse">
            <a:avLst/>
          </a:prstGeom>
          <a:solidFill>
            <a:srgbClr val="004259"/>
          </a:solidFill>
          <a:ln/>
        </p:spPr>
      </p:sp>
      <p:sp>
        <p:nvSpPr>
          <p:cNvPr id="25" name="Shape 23"/>
          <p:cNvSpPr/>
          <p:nvPr/>
        </p:nvSpPr>
        <p:spPr>
          <a:xfrm>
            <a:off x="2880360" y="2057400"/>
            <a:ext cx="91440" cy="91440"/>
          </a:xfrm>
          <a:prstGeom prst="ellipse">
            <a:avLst/>
          </a:prstGeom>
          <a:solidFill>
            <a:srgbClr val="004259"/>
          </a:solidFill>
          <a:ln/>
        </p:spPr>
      </p:sp>
      <p:sp>
        <p:nvSpPr>
          <p:cNvPr id="26" name="Shape 24"/>
          <p:cNvSpPr/>
          <p:nvPr/>
        </p:nvSpPr>
        <p:spPr>
          <a:xfrm>
            <a:off x="4617720" y="2240280"/>
            <a:ext cx="91440" cy="91440"/>
          </a:xfrm>
          <a:prstGeom prst="ellipse">
            <a:avLst/>
          </a:prstGeom>
          <a:solidFill>
            <a:srgbClr val="004259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" y="181965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4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0" y="218541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  A — safety / airbag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188720" y="2834640"/>
            <a:ext cx="1737360" cy="274320"/>
          </a:xfrm>
          <a:prstGeom prst="line">
            <a:avLst/>
          </a:prstGeom>
          <a:noFill/>
          <a:ln w="34925">
            <a:solidFill>
              <a:srgbClr val="8B9AA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26080" y="3108960"/>
            <a:ext cx="1737360" cy="91440"/>
          </a:xfrm>
          <a:prstGeom prst="line">
            <a:avLst/>
          </a:prstGeom>
          <a:noFill/>
          <a:ln w="34925">
            <a:solidFill>
              <a:srgbClr val="8B9AA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43000" y="2788920"/>
            <a:ext cx="91440" cy="91440"/>
          </a:xfrm>
          <a:prstGeom prst="ellipse">
            <a:avLst/>
          </a:prstGeom>
          <a:solidFill>
            <a:srgbClr val="8B9AA5"/>
          </a:solidFill>
          <a:ln/>
        </p:spPr>
      </p:sp>
      <p:sp>
        <p:nvSpPr>
          <p:cNvPr id="32" name="Shape 30"/>
          <p:cNvSpPr/>
          <p:nvPr/>
        </p:nvSpPr>
        <p:spPr>
          <a:xfrm>
            <a:off x="2880360" y="3063240"/>
            <a:ext cx="91440" cy="91440"/>
          </a:xfrm>
          <a:prstGeom prst="ellipse">
            <a:avLst/>
          </a:prstGeom>
          <a:solidFill>
            <a:srgbClr val="8B9AA5"/>
          </a:solidFill>
          <a:ln/>
        </p:spPr>
      </p:sp>
      <p:sp>
        <p:nvSpPr>
          <p:cNvPr id="33" name="Shape 31"/>
          <p:cNvSpPr/>
          <p:nvPr/>
        </p:nvSpPr>
        <p:spPr>
          <a:xfrm>
            <a:off x="4617720" y="3154680"/>
            <a:ext cx="91440" cy="91440"/>
          </a:xfrm>
          <a:prstGeom prst="ellipse">
            <a:avLst/>
          </a:prstGeom>
          <a:solidFill>
            <a:srgbClr val="8B9AA5"/>
          </a:solidFill>
          <a:ln/>
        </p:spPr>
      </p:sp>
      <p:sp>
        <p:nvSpPr>
          <p:cNvPr id="34" name="Text 32"/>
          <p:cNvSpPr/>
          <p:nvPr/>
        </p:nvSpPr>
        <p:spPr>
          <a:xfrm>
            <a:off x="804672" y="273405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B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54880" y="319125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  B — high-margin ICE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 flipV="1">
            <a:off x="1188720" y="3383280"/>
            <a:ext cx="1737360" cy="274320"/>
          </a:xfrm>
          <a:prstGeom prst="line">
            <a:avLst/>
          </a:prstGeom>
          <a:noFill/>
          <a:ln w="41275">
            <a:solidFill>
              <a:srgbClr val="0FB9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2926080" y="3108960"/>
            <a:ext cx="1737360" cy="274320"/>
          </a:xfrm>
          <a:prstGeom prst="line">
            <a:avLst/>
          </a:prstGeom>
          <a:noFill/>
          <a:ln w="41275">
            <a:solidFill>
              <a:srgbClr val="0FB9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43000" y="3611880"/>
            <a:ext cx="91440" cy="91440"/>
          </a:xfrm>
          <a:prstGeom prst="ellipse">
            <a:avLst/>
          </a:prstGeom>
          <a:solidFill>
            <a:srgbClr val="0FB98A"/>
          </a:solidFill>
          <a:ln/>
        </p:spPr>
      </p:sp>
      <p:sp>
        <p:nvSpPr>
          <p:cNvPr id="39" name="Shape 37"/>
          <p:cNvSpPr/>
          <p:nvPr/>
        </p:nvSpPr>
        <p:spPr>
          <a:xfrm>
            <a:off x="2880360" y="3337560"/>
            <a:ext cx="91440" cy="91440"/>
          </a:xfrm>
          <a:prstGeom prst="ellipse">
            <a:avLst/>
          </a:prstGeom>
          <a:solidFill>
            <a:srgbClr val="0FB98A"/>
          </a:solidFill>
          <a:ln/>
        </p:spPr>
      </p:sp>
      <p:sp>
        <p:nvSpPr>
          <p:cNvPr id="40" name="Shape 38"/>
          <p:cNvSpPr/>
          <p:nvPr/>
        </p:nvSpPr>
        <p:spPr>
          <a:xfrm>
            <a:off x="4617720" y="3063240"/>
            <a:ext cx="91440" cy="91440"/>
          </a:xfrm>
          <a:prstGeom prst="ellipse">
            <a:avLst/>
          </a:prstGeom>
          <a:solidFill>
            <a:srgbClr val="0FB98A"/>
          </a:solidFill>
          <a:ln/>
        </p:spPr>
      </p:sp>
      <p:sp>
        <p:nvSpPr>
          <p:cNvPr id="41" name="Text 39"/>
          <p:cNvSpPr/>
          <p:nvPr/>
        </p:nvSpPr>
        <p:spPr>
          <a:xfrm>
            <a:off x="804672" y="355701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FB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54880" y="284378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B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  C — SiC EV design-in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508760" y="1170432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000038"/>
          </a:solidFill>
          <a:ln/>
        </p:spPr>
      </p:sp>
      <p:sp>
        <p:nvSpPr>
          <p:cNvPr id="44" name="Text 42"/>
          <p:cNvSpPr/>
          <p:nvPr/>
        </p:nvSpPr>
        <p:spPr>
          <a:xfrm>
            <a:off x="1508760" y="1170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E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value — zero eligibility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720840" y="102412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4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APPLICATION REVEALS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720840" y="1316736"/>
            <a:ext cx="1965960" cy="932688"/>
          </a:xfrm>
          <a:prstGeom prst="roundRect">
            <a:avLst>
              <a:gd name="adj" fmla="val 4902"/>
            </a:avLst>
          </a:prstGeom>
          <a:solidFill>
            <a:srgbClr val="F1F3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830568" y="1380744"/>
            <a:ext cx="1764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90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Safety lock-in never decays</a:t>
            </a:r>
            <a:endParaRPr lang="en-US" sz="9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stays in Protect across every horizon — qualification, not volume, anchors priority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720840" y="2340864"/>
            <a:ext cx="1965960" cy="932688"/>
          </a:xfrm>
          <a:prstGeom prst="roundRect">
            <a:avLst>
              <a:gd name="adj" fmla="val 4902"/>
            </a:avLst>
          </a:prstGeom>
          <a:solidFill>
            <a:srgbClr val="F1F3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830568" y="2404872"/>
            <a:ext cx="1764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90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C overtakes B (3.1 vs 3.0)</a:t>
            </a:r>
            <a:endParaRPr lang="en-US" sz="9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migrates from a profitable ICE legacy to the SiC EV future — inside the same OEM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720840" y="3364992"/>
            <a:ext cx="1965960" cy="932688"/>
          </a:xfrm>
          <a:prstGeom prst="roundRect">
            <a:avLst>
              <a:gd name="adj" fmla="val 4902"/>
            </a:avLst>
          </a:prstGeom>
          <a:solidFill>
            <a:srgbClr val="F1F3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830568" y="3429000"/>
            <a:ext cx="1764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90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D fails the gate at 4.8</a:t>
            </a:r>
            <a:endParaRPr lang="en-US" sz="9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valuable programme is one Nexperia may not serve; rerouting Dongguan → Malaysia unlocks it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4370832"/>
            <a:ext cx="8229600" cy="402336"/>
          </a:xfrm>
          <a:prstGeom prst="rect">
            <a:avLst/>
          </a:prstGeom>
          <a:solidFill>
            <a:srgbClr val="000038"/>
          </a:solidFill>
          <a:ln/>
        </p:spPr>
      </p:sp>
      <p:sp>
        <p:nvSpPr>
          <p:cNvPr id="53" name="Text 51"/>
          <p:cNvSpPr/>
          <p:nvPr/>
        </p:nvSpPr>
        <p:spPr>
          <a:xfrm>
            <a:off x="566928" y="437083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E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reveals: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— priorities reorder across horizons and regulatory blockage becomes visible and quantified. What remains is turning the framework into governance.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scores: own calculation, Σ wᵢ·Cᵢ per horizon (Tables 7–8, Figure 12 of the thesis); Programme D shown for analytical purposes only; robustness confirmed under stabilisation, bifurcation and renewed-control scenarios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FB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4 OF 4 — MANAGERIAL TRANSLATION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Capturing the framework's value takes four moves — score programmes not accounts, expand eligibility via route redesign, anchor design-ins in contracts, govern above bargaining power — the clearest path to $10B by 2030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041648" cy="1481328"/>
          </a:xfrm>
          <a:prstGeom prst="roundRect">
            <a:avLst>
              <a:gd name="adj" fmla="val 3704"/>
            </a:avLst>
          </a:prstGeom>
          <a:solidFill>
            <a:srgbClr val="F1F3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" y="1225296"/>
            <a:ext cx="402336" cy="402336"/>
          </a:xfrm>
          <a:prstGeom prst="ellipse">
            <a:avLst/>
          </a:prstGeom>
          <a:solidFill>
            <a:srgbClr val="00425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321308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041648" y="1152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BE0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15568" y="122529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 customers through programmes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0080" y="1700784"/>
            <a:ext cx="3675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every constrained order at programme level. Account-level allocation quietly starves rising EV programmes: B falls 3.4 → 3.0 while C rises 2.5 → 3.1 inside the same OEM account.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45152" y="1078992"/>
            <a:ext cx="4041648" cy="1481328"/>
          </a:xfrm>
          <a:prstGeom prst="roundRect">
            <a:avLst>
              <a:gd name="adj" fmla="val 3704"/>
            </a:avLst>
          </a:prstGeom>
          <a:solidFill>
            <a:srgbClr val="F1F3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1225296"/>
            <a:ext cx="402336" cy="402336"/>
          </a:xfrm>
          <a:prstGeom prst="ellipse">
            <a:avLst/>
          </a:prstGeom>
          <a:solidFill>
            <a:srgbClr val="00425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7468" y="1321308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29600" y="1152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BE0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5303520" y="122529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the eligible set before optimising it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828032" y="1700784"/>
            <a:ext cx="3675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D's 4.8 quantifies value locked behind the Dongguan route. Rerouting via Malaysia / Philippines turns supply-chain redesign into a strategic — not operational — decision.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57200" y="2724912"/>
            <a:ext cx="4041648" cy="1481328"/>
          </a:xfrm>
          <a:prstGeom prst="roundRect">
            <a:avLst>
              <a:gd name="adj" fmla="val 3704"/>
            </a:avLst>
          </a:prstGeom>
          <a:solidFill>
            <a:srgbClr val="F1F3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3504" y="2871216"/>
            <a:ext cx="402336" cy="402336"/>
          </a:xfrm>
          <a:prstGeom prst="ellipse">
            <a:avLst/>
          </a:prstGeom>
          <a:solidFill>
            <a:srgbClr val="00425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2967228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041648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BE0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1115568" y="287121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strategic design-ins into contracts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40080" y="3346704"/>
            <a:ext cx="3675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scores 5 on strategy yet never leaves 'Manage' — because C1 = 1. Without binding commitments, no strategic importance secures capacity: sign LTSAs for SiC/GaN design-ins now.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4645152" y="2724912"/>
            <a:ext cx="4041648" cy="1481328"/>
          </a:xfrm>
          <a:prstGeom prst="roundRect">
            <a:avLst>
              <a:gd name="adj" fmla="val 3704"/>
            </a:avLst>
          </a:prstGeom>
          <a:solidFill>
            <a:srgbClr val="F1F3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91456" y="2871216"/>
            <a:ext cx="402336" cy="402336"/>
          </a:xfrm>
          <a:prstGeom prst="ellipse">
            <a:avLst/>
          </a:prstGeom>
          <a:solidFill>
            <a:srgbClr val="004259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7468" y="2967228"/>
            <a:ext cx="210312" cy="2103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229600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BE0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5303520" y="287121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0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Institutionalise governance above accounts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828032" y="3346704"/>
            <a:ext cx="3675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cross-functional allocation committee — weekly in crisis — sits above account managers. G1 is never overridable; override rate &lt;10%; Protect-band fulfilment ≥95% as the anchor KPI.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57200" y="4370832"/>
            <a:ext cx="8229600" cy="402336"/>
          </a:xfrm>
          <a:prstGeom prst="rect">
            <a:avLst/>
          </a:prstGeom>
          <a:solidFill>
            <a:srgbClr val="000038"/>
          </a:solidFill>
          <a:ln/>
        </p:spPr>
      </p:sp>
      <p:sp>
        <p:nvSpPr>
          <p:cNvPr id="29" name="Text 23"/>
          <p:cNvSpPr/>
          <p:nvPr/>
        </p:nvSpPr>
        <p:spPr>
          <a:xfrm>
            <a:off x="566928" y="437083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E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managerial implication is: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allocation discipline converts a structural constraint into a strategic instrument — Nexperia's cheapest insurance, and its clearest path to $10B by 2030.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Managerial implications 1–4, Chapter 4; governance and KPI design incl. override policy and Protect-band fulfilment target</a:t>
            </a:r>
            <a:endParaRPr lang="en-US" sz="750" dirty="0"/>
          </a:p>
        </p:txBody>
      </p:sp>
      <p:sp>
        <p:nvSpPr>
          <p:cNvPr id="31" name="Text 25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BE0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look forward to your questions — and to defending the choices behind the framework.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BE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POINTS I INVITE CHALLENGE 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852928"/>
            <a:ext cx="5120640" cy="548640"/>
          </a:xfrm>
          <a:prstGeom prst="roundRect">
            <a:avLst>
              <a:gd name="adj" fmla="val 8333"/>
            </a:avLst>
          </a:prstGeom>
          <a:solidFill>
            <a:srgbClr val="004259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85292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BE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calibration —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35 / 30 / 15 in crisis — and how AHP-structured judgement replaces arbitrary weighting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3493008"/>
            <a:ext cx="5120640" cy="548640"/>
          </a:xfrm>
          <a:prstGeom prst="roundRect">
            <a:avLst>
              <a:gd name="adj" fmla="val 8333"/>
            </a:avLst>
          </a:prstGeom>
          <a:solidFill>
            <a:srgbClr val="004259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49300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BE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 thresholds —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Protect begins at 4.0 — design choices grounded in 2025-crisis learnings, not disclosed Nexperia practice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4133088"/>
            <a:ext cx="5120640" cy="548640"/>
          </a:xfrm>
          <a:prstGeom prst="roundRect">
            <a:avLst>
              <a:gd name="adj" fmla="val 8333"/>
            </a:avLst>
          </a:prstGeom>
          <a:solidFill>
            <a:srgbClr val="004259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41330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BE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Transferability —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generalises beyond Nexperia — and what is specific to its four-jurisdiction exposure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2606040"/>
            <a:ext cx="0" cy="1874520"/>
          </a:xfrm>
          <a:prstGeom prst="line">
            <a:avLst/>
          </a:prstGeom>
          <a:noFill/>
          <a:ln w="12700">
            <a:solidFill>
              <a:srgbClr val="0042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2651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Himanshu Shekhar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294436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BE0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Prioritisation under Supply Constraints — Application to Nexperia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5080" y="35661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E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Examiner: Prof. Dr. Kai-Uwe Wellner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E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Hochschule Nürnberg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E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Prioritisation under Supply Constraints — Thesis Defense</dc:title>
  <dc:subject>PptxGenJS Presentation</dc:subject>
  <dc:creator>Himanshu Shekhar</dc:creator>
  <cp:lastModifiedBy>Himanshu Shekhar</cp:lastModifiedBy>
  <cp:revision>1</cp:revision>
  <dcterms:created xsi:type="dcterms:W3CDTF">2026-07-08T23:26:14Z</dcterms:created>
  <dcterms:modified xsi:type="dcterms:W3CDTF">2026-07-08T23:26:14Z</dcterms:modified>
</cp:coreProperties>
</file>